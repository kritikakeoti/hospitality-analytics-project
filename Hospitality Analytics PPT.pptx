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4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07BFE-4B8A-42C0-8E0D-8E06BD2FE172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79027-C6CD-49B0-9E93-7C721C7F2F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22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93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/>
              <a:t>Project by GROUP 3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fld id="{FCAB68B1-B9AD-4751-B410-BA101144611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35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90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62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521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5" y="6248399"/>
            <a:ext cx="27432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95" y="6248400"/>
            <a:ext cx="6672865" cy="365125"/>
          </a:xfrm>
        </p:spPr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/>
              <a:t>Project by GROUP 3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0" y="6248399"/>
            <a:ext cx="753545" cy="365125"/>
          </a:xfrm>
        </p:spPr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fld id="{FCAB68B1-B9AD-4751-B410-BA101144611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89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2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535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16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6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003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7725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298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34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21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04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79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400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-228600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228600" indent="-228600"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228600" indent="-228600"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" indent="-228600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79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4060" y="63214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C000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321474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FFC000"/>
                </a:solidFill>
              </a:defRPr>
            </a:lvl1pPr>
          </a:lstStyle>
          <a:p>
            <a:r>
              <a:rPr lang="en-US"/>
              <a:t>Project by GROUP 3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24660" y="6321474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C000"/>
                </a:solidFill>
              </a:defRPr>
            </a:lvl1pPr>
          </a:lstStyle>
          <a:p>
            <a:fld id="{FCAB68B1-B9AD-4751-B410-BA101144611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0860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699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A4EF-2EA8-480B-77C7-8DF577B17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8" y="2095706"/>
            <a:ext cx="9001462" cy="1532076"/>
          </a:xfrm>
        </p:spPr>
        <p:txBody>
          <a:bodyPr/>
          <a:lstStyle/>
          <a:p>
            <a:r>
              <a:rPr lang="en-IN" dirty="0"/>
              <a:t>Hospitality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1DF71-B1BE-6547-93D3-77701C4A8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8" y="4267959"/>
            <a:ext cx="9001462" cy="1655762"/>
          </a:xfrm>
        </p:spPr>
        <p:txBody>
          <a:bodyPr/>
          <a:lstStyle/>
          <a:p>
            <a:r>
              <a:rPr lang="en-IN" dirty="0"/>
              <a:t>P1194 Hospitality Analytics Project by GROUP 3</a:t>
            </a:r>
          </a:p>
          <a:p>
            <a:r>
              <a:rPr lang="en-IN" dirty="0"/>
              <a:t>Tools used : 	Excel, PowerBI, Tableau and 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2FF98-1AE9-C019-31DE-8D4A61CC6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015" y="780098"/>
            <a:ext cx="2627969" cy="94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9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59F01-7B88-7F58-8C57-7B90C63A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Group-3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1117D-3371-166F-E45A-4EA262B4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</p:spPr>
        <p:txBody>
          <a:bodyPr>
            <a:normAutofit/>
          </a:bodyPr>
          <a:lstStyle/>
          <a:p>
            <a:r>
              <a:rPr lang="en-IN" dirty="0"/>
              <a:t>Jithu Puthukary Jose</a:t>
            </a:r>
          </a:p>
          <a:p>
            <a:r>
              <a:rPr lang="en-IN" dirty="0"/>
              <a:t>Ankit Kumar Mishra</a:t>
            </a:r>
          </a:p>
          <a:p>
            <a:r>
              <a:rPr lang="en-IN" dirty="0"/>
              <a:t>Kritika Rajesh Keoti</a:t>
            </a:r>
          </a:p>
          <a:p>
            <a:r>
              <a:rPr lang="en-IN" dirty="0"/>
              <a:t>Ankit Mishra</a:t>
            </a:r>
          </a:p>
          <a:p>
            <a:r>
              <a:rPr lang="en-IN" dirty="0"/>
              <a:t>Mohammad Rehaan Ali</a:t>
            </a:r>
          </a:p>
          <a:p>
            <a:r>
              <a:rPr lang="en-IN" dirty="0"/>
              <a:t>Jayesh Vivek Kale</a:t>
            </a:r>
          </a:p>
          <a:p>
            <a:r>
              <a:rPr lang="en-IN" dirty="0"/>
              <a:t>Arya 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1EA78-5A29-C1AC-E050-81A9C06D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6A964-E04E-2833-11B8-F736F157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2</a:t>
            </a:fld>
            <a:endParaRPr lang="en-IN" dirty="0"/>
          </a:p>
        </p:txBody>
      </p:sp>
      <p:pic>
        <p:nvPicPr>
          <p:cNvPr id="9" name="Graphic 8" descr="Group brainstorm">
            <a:extLst>
              <a:ext uri="{FF2B5EF4-FFF2-40B4-BE49-F238E27FC236}">
                <a16:creationId xmlns:a16="http://schemas.microsoft.com/office/drawing/2014/main" id="{6BB0C95A-8856-BFE3-69E6-C5AFCFFFD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6660" y="2305669"/>
            <a:ext cx="2094053" cy="209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4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EFFD-62C8-1048-036B-1B4E0F4B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981AC-C7CA-3533-0B99-DA1894E8A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analyze the Shodwe Hotel’s hospitality booking data and evaluate hotel performance.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understand revenue trends across different cities and properties.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analyze booking patterns based on room class, booking platform, etc.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generate the key performance indicators such as Total Revenue, Occupancy Rate, etc. using SQL queries.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create interactive dashboards using Excel, PowerBI and Tableau for better business decision-making.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transform the raw hospitality data into insights using data analysis techniques.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EC71B-266D-ABF3-5E7B-92C9CBA5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5F8E7-A0BC-90A5-0C4C-C8F7399D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24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68A5-F42F-7E14-2C16-E39F500E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6B36-11A3-0703-BA27-20C6687F1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</p:spPr>
        <p:txBody>
          <a:bodyPr>
            <a:normAutofit/>
          </a:bodyPr>
          <a:lstStyle/>
          <a:p>
            <a:r>
              <a:rPr lang="en-IN" dirty="0"/>
              <a:t>Total Revenue – Total income generated from all property bookings.</a:t>
            </a:r>
          </a:p>
          <a:p>
            <a:r>
              <a:rPr lang="en-IN" dirty="0"/>
              <a:t>Total Bookings – Total numbers of reservations made.</a:t>
            </a:r>
          </a:p>
          <a:p>
            <a:r>
              <a:rPr lang="en-IN" dirty="0"/>
              <a:t>Occupancy Rate – Percentage of rooms occupied compared to total available rooms.</a:t>
            </a:r>
          </a:p>
          <a:p>
            <a:r>
              <a:rPr lang="en-IN" dirty="0"/>
              <a:t>Revenue per Available Room (RevPAR) – Measures how efficiently hotel rooms generate revenue.</a:t>
            </a:r>
          </a:p>
          <a:p>
            <a:r>
              <a:rPr lang="en-IN" dirty="0"/>
              <a:t>Average Daily Rate (ADR) – Average revenue earned per occupied room.</a:t>
            </a:r>
          </a:p>
          <a:p>
            <a:r>
              <a:rPr lang="en-IN" dirty="0"/>
              <a:t>Average Customer Rating – Average guest satisfaction rate.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EBE26-59AB-D1FB-1BE8-2C5F1609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B4B9D-3D14-AFCC-0BF3-7143A374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1BA01-FAC6-C557-C8DC-0C61CFBC1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90" y="4432107"/>
            <a:ext cx="4369664" cy="1816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6D9BAD-69C7-683E-D88E-692C1E34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90" y="1466406"/>
            <a:ext cx="4369664" cy="28999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3DEF0A-F8EE-9E75-A887-A812038FCB0D}"/>
              </a:ext>
            </a:extLst>
          </p:cNvPr>
          <p:cNvSpPr txBox="1"/>
          <p:nvPr/>
        </p:nvSpPr>
        <p:spPr>
          <a:xfrm>
            <a:off x="5546035" y="1858617"/>
            <a:ext cx="5933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Treemap visualization shows the revenue contribution by property.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Helps identify top-performing hotels and underperforming properties, for better strategic planning.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65EA7-DE35-1568-D81B-42F603E2DE25}"/>
              </a:ext>
            </a:extLst>
          </p:cNvPr>
          <p:cNvSpPr txBox="1"/>
          <p:nvPr/>
        </p:nvSpPr>
        <p:spPr>
          <a:xfrm>
            <a:off x="5560931" y="4671390"/>
            <a:ext cx="5933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Analytics highlights booking platforms which are most effective in generating revenue for hotels.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Certain platforms contribute to larger share of realized revenue and show higher booking.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936A47C-1F51-1E2E-020C-6E98A6623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08" y="236404"/>
            <a:ext cx="10353761" cy="1326321"/>
          </a:xfrm>
        </p:spPr>
        <p:txBody>
          <a:bodyPr>
            <a:normAutofit/>
          </a:bodyPr>
          <a:lstStyle/>
          <a:p>
            <a:r>
              <a:rPr lang="en-IN" sz="36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VISUALIZATIONS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851D43-6208-7315-B55F-8952102B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668CAD3-7839-C104-4CE2-5C7222BB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5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52C332-A9D4-2DAA-81A5-061D9A78C49B}"/>
              </a:ext>
            </a:extLst>
          </p:cNvPr>
          <p:cNvSpPr txBox="1"/>
          <p:nvPr/>
        </p:nvSpPr>
        <p:spPr>
          <a:xfrm>
            <a:off x="4989443" y="2001508"/>
            <a:ext cx="5834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Line chart shows revenue varies across cities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Helps to identify city-wise overall performance trends.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A4DAC-B986-9FD6-53CD-9FDFEAB01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93"/>
          <a:stretch>
            <a:fillRect/>
          </a:stretch>
        </p:blipFill>
        <p:spPr>
          <a:xfrm>
            <a:off x="1109873" y="3429000"/>
            <a:ext cx="3034743" cy="2819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ABDB9A-7D50-76B4-C0CC-464E694B7F95}"/>
              </a:ext>
            </a:extLst>
          </p:cNvPr>
          <p:cNvSpPr txBox="1"/>
          <p:nvPr/>
        </p:nvSpPr>
        <p:spPr>
          <a:xfrm>
            <a:off x="4989443" y="4238723"/>
            <a:ext cx="6283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Visualization shows distribution of booking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Monitoring booking status helps hotels understand customer behaviour and improve management strategies.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6E8810-9F3C-E606-A2A7-D986798F8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872" y="1561435"/>
            <a:ext cx="3034744" cy="169566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7D12524-2339-C143-B526-E2B4329F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27505"/>
            <a:ext cx="10353761" cy="1326321"/>
          </a:xfrm>
        </p:spPr>
        <p:txBody>
          <a:bodyPr>
            <a:normAutofit/>
          </a:bodyPr>
          <a:lstStyle/>
          <a:p>
            <a:r>
              <a:rPr lang="en-IN" sz="3600" cap="none" dirty="0">
                <a:cs typeface="Arial" panose="020B0604020202020204" pitchFamily="34" charset="0"/>
              </a:rPr>
              <a:t>VISUALIZATIONS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0311C5-3024-2777-86A0-D438841A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BEEDDAD-0420-2073-133C-BF9E065D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609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B51E-17A5-1773-DB44-553F3979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403639"/>
            <a:ext cx="10353761" cy="1326321"/>
          </a:xfrm>
        </p:spPr>
        <p:txBody>
          <a:bodyPr/>
          <a:lstStyle/>
          <a:p>
            <a:r>
              <a:rPr lang="en-IN" dirty="0"/>
              <a:t>Excel Dashboard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1DE71CC-E940-6C4A-1D5E-9CF1064BEAA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236" y="1461474"/>
            <a:ext cx="10080000" cy="48600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64AF91C-9DA4-EF3F-5323-A2C31823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175F50-93B4-5F42-6130-90BCAB8F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18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EA2B-6A89-BB80-BC72-3447B2C8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30696"/>
            <a:ext cx="10353761" cy="1326321"/>
          </a:xfrm>
        </p:spPr>
        <p:txBody>
          <a:bodyPr/>
          <a:lstStyle/>
          <a:p>
            <a:r>
              <a:rPr lang="en-IN" dirty="0"/>
              <a:t>PowerBI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8097F-925A-454F-8002-E047BB3871A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461474"/>
            <a:ext cx="10080000" cy="4860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8BF9D-F6BE-1583-2FBA-FE6E0C8BD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D83F6-A65E-9CD5-6685-C40F2692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23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AE1E-302B-ACE3-AD77-9B025DEA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71061"/>
            <a:ext cx="10353761" cy="1326321"/>
          </a:xfrm>
        </p:spPr>
        <p:txBody>
          <a:bodyPr/>
          <a:lstStyle/>
          <a:p>
            <a:r>
              <a:rPr lang="en-IN" dirty="0"/>
              <a:t>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CD42FB-A64A-D555-243E-89898384347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461474"/>
            <a:ext cx="10080000" cy="4860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15F1-F9CC-7968-94F5-9081DD25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360C8-F3CF-4234-38C6-222586DE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122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CE9A-66B1-E304-00D4-4ACF5FE9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from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D17BB-BFFC-AD32-5334-78FCB44A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Mumbai generates the highest revenue among cities.</a:t>
            </a:r>
          </a:p>
          <a:p>
            <a:r>
              <a:rPr lang="en-IN" dirty="0"/>
              <a:t>Weekend occupancy rates are higher than weekdays.</a:t>
            </a:r>
          </a:p>
          <a:p>
            <a:r>
              <a:rPr lang="en-IN" dirty="0"/>
              <a:t>Premium and Elite room classes contribute the largest share in revenue.</a:t>
            </a:r>
          </a:p>
          <a:p>
            <a:r>
              <a:rPr lang="en-IN" dirty="0"/>
              <a:t>Some properties like Shodwe Exotica and Shodwe Palace generate higher revenue than others.</a:t>
            </a:r>
          </a:p>
          <a:p>
            <a:r>
              <a:rPr lang="en-IN" dirty="0"/>
              <a:t>OTA and Travel Agent channels generate significant bookings.</a:t>
            </a:r>
          </a:p>
          <a:p>
            <a:r>
              <a:rPr lang="en-IN" dirty="0"/>
              <a:t>Certain booking platforms generate larger number of hotel bookings.</a:t>
            </a:r>
          </a:p>
          <a:p>
            <a:r>
              <a:rPr lang="en-IN" dirty="0"/>
              <a:t>Customer ratings vary across properties, indicating differences in guest experience.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97240-062D-CC0C-0055-5CADD693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424B2-BCA3-2C0F-B9CD-1386CE2C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22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05EC-F2AD-6667-EA08-32EE750E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3332F-6BD7-8271-7D2D-388958C1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</p:spPr>
        <p:txBody>
          <a:bodyPr/>
          <a:lstStyle/>
          <a:p>
            <a:r>
              <a:rPr lang="en-IN" dirty="0"/>
              <a:t>Dashboards created with data visualization tools help identify important trends in revenue, bookings, and customer behaviour.</a:t>
            </a:r>
          </a:p>
          <a:p>
            <a:r>
              <a:rPr lang="en-IN" dirty="0"/>
              <a:t>Analysis provides useful insights that can help Shodwe Hotels’ managers </a:t>
            </a:r>
          </a:p>
          <a:p>
            <a:pPr lvl="1"/>
            <a:r>
              <a:rPr lang="en-IN" dirty="0"/>
              <a:t>monitor performance metrics</a:t>
            </a:r>
          </a:p>
          <a:p>
            <a:pPr lvl="1"/>
            <a:r>
              <a:rPr lang="en-IN" dirty="0"/>
              <a:t>identify  opportunities for growth</a:t>
            </a:r>
          </a:p>
          <a:p>
            <a:pPr lvl="1"/>
            <a:r>
              <a:rPr lang="en-IN" dirty="0"/>
              <a:t>improve overall management strategies.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2800" dirty="0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2BBDD-CE49-C183-3D1F-BD5CFEB9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by GROUP 3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1B0E1-61AE-AE31-2009-43F3A055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B68B1-B9AD-4751-B410-BA10114461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668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459</TotalTime>
  <Words>472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Damask</vt:lpstr>
      <vt:lpstr>Hospitality Analytics</vt:lpstr>
      <vt:lpstr>Group-3 Members</vt:lpstr>
      <vt:lpstr>Project Objective</vt:lpstr>
      <vt:lpstr>Key Performance Indicators used</vt:lpstr>
      <vt:lpstr>VISUALIZATIONS</vt:lpstr>
      <vt:lpstr>VISUALIZATIONS</vt:lpstr>
      <vt:lpstr>Excel Dashboard</vt:lpstr>
      <vt:lpstr>PowerBI Dashboard</vt:lpstr>
      <vt:lpstr>Tableau Dashboard</vt:lpstr>
      <vt:lpstr>Key Insights from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 Keoti</dc:creator>
  <cp:lastModifiedBy>Indu Keoti</cp:lastModifiedBy>
  <cp:revision>7</cp:revision>
  <dcterms:created xsi:type="dcterms:W3CDTF">2026-03-15T10:35:31Z</dcterms:created>
  <dcterms:modified xsi:type="dcterms:W3CDTF">2026-03-16T08:45:06Z</dcterms:modified>
</cp:coreProperties>
</file>